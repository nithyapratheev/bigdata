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E2601C"/>
          </a:solidFill>
          <a:ln/>
          <a:effectLst>
            <a:outerShdw sx="100000" sy="100000" kx="0" ky="0" algn="bl" rotWithShape="0" blurRad="228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0" y="3931920"/>
            <a:ext cx="2377440" cy="2377440"/>
          </a:xfrm>
          <a:prstGeom prst="ellipse">
            <a:avLst/>
          </a:prstGeom>
          <a:solidFill>
            <a:srgbClr val="F5A25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A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FOR LEARNERS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RDDs, Regression &amp; Classification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Spark MLlib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walkthrough for teaching distributed data processing and machine learning in PySpark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5074920"/>
            <a:ext cx="1280160" cy="0"/>
          </a:xfrm>
          <a:prstGeom prst="line">
            <a:avLst/>
          </a:prstGeom>
          <a:noFill/>
          <a:ln w="38100">
            <a:solidFill>
              <a:srgbClr val="E260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172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Notebooks: Working with RDDs  •  ML Regression using MLlib  •  ML Classification using MLlib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notebooks, one workflow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AF2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203911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RDDs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920240" y="249631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fundamentals: distributed collections, lazy evaluation, transformations vs. actions.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AF2FA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767328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673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36118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with MLlib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920240" y="40690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house prices (Boston dataset) with Linear Regression, Decision Trees, and GBTs.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20056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AF2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340096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3400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518464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with MLlib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920240" y="5641848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yes/no outcome (bank deposits) with Logistic Regression, Decision Trees, and Random Forest.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103120"/>
            <a:ext cx="813816" cy="310896"/>
          </a:xfrm>
          <a:prstGeom prst="roundRect">
            <a:avLst>
              <a:gd name="adj" fmla="val 50000"/>
            </a:avLst>
          </a:prstGeom>
          <a:solidFill>
            <a:srgbClr val="E2601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813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RDDs in PySpark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Distributed Datasets — Spark's foundational data structure for parallel computation.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RDD?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can rebuild lost data automatically (fault-tolerant)
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split into partitions spread across cores/machines
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just a collection of records, processed in parallel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SparkContext (sc) is the entry point to the cluster — every RDD starts from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69164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10233F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45352" y="1856232"/>
            <a:ext cx="5157216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 import SparkContext, SparkConf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= SparkConf() \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.set('spark.ui.port', '4050') \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.setAppName("films") \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.setMaster("local[2]")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 = SparkContext.getOrCreate(conf=conf)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89320" y="4526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setMaster("local[2]")  →  run locally using 2 CPU cores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and transforming an RDD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0" cy="4023360"/>
          </a:xfrm>
          <a:prstGeom prst="roundRect">
            <a:avLst>
              <a:gd name="adj" fmla="val 1818"/>
            </a:avLst>
          </a:prstGeom>
          <a:solidFill>
            <a:srgbClr val="10233F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56232"/>
            <a:ext cx="6345936" cy="3694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 = ['dark knight', 'dunkirk', 'pulp fiction', 'avatar']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movies_rdd = sc.parallelize(movies)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F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map: apply a function to every element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movies_rdd.map(lambda m: m.title()).collect()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F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['Dark Knight', 'Dunkirk', 'Pulp Fiction', 'Avatar']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F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filter: keep only matching elements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movies_rdd.filter(lambda m: m[0] == 'd').collect()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F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['dark knight', 'dunkirk']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80960" y="169164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EAF2FA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parallelize()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09560" y="233172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Python list living on one machine and splits it into partitions distributed across the cluster's cores.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09560" y="3520440"/>
            <a:ext cx="324612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vs. filter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09560" y="40690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= transform every element (like a list comprehension, but distributed).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= keep only elements matching a condition.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Transformations are lazy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until an action is called — Spark just builds a plan.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 w="12700">
            <a:solidFill>
              <a:srgbClr val="234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585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movies_rdd.map(lambda m: m.title())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1576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printed — Spark just records the step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778240" y="2514600"/>
            <a:ext cx="2116836" cy="310896"/>
          </a:xfrm>
          <a:prstGeom prst="roundRect">
            <a:avLst>
              <a:gd name="adj" fmla="val 50000"/>
            </a:avLst>
          </a:prstGeom>
          <a:solidFill>
            <a:srgbClr val="E2601C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0" y="2514600"/>
            <a:ext cx="21168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(lazy)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 w="12700">
            <a:solidFill>
              <a:srgbClr val="2345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930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movies_rdd.map(...).filter(...)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95020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nothing — the chain is only a 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3749040"/>
            <a:ext cx="2116836" cy="310896"/>
          </a:xfrm>
          <a:prstGeom prst="roundRect">
            <a:avLst>
              <a:gd name="adj" fmla="val 50000"/>
            </a:avLst>
          </a:prstGeom>
          <a:solidFill>
            <a:srgbClr val="E2601C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3749040"/>
            <a:ext cx="21168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(lazy)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1B3A2E"/>
          </a:solidFill>
          <a:ln w="12700">
            <a:solidFill>
              <a:srgbClr val="2FA8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72744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movies_rdd.map(...).filter(...).collect()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18464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E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runs, and results come back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78240" y="4983480"/>
            <a:ext cx="1421892" cy="310896"/>
          </a:xfrm>
          <a:prstGeom prst="roundRect">
            <a:avLst>
              <a:gd name="adj" fmla="val 50000"/>
            </a:avLst>
          </a:prstGeom>
          <a:solidFill>
            <a:srgbClr val="2FA84F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4983480"/>
            <a:ext cx="14218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→ RUNS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On huge datasets, Spark waits so it can see the whole chain and only compute what's actually needed to produce the final result.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Transformations vs. Actions cheat sheet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48056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3566160"/>
                <a:gridCol w="192024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immediately?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26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Describes a step; builds a lazy plan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map, filter, sample, distinct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one-to-one conversion of each record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map(lambda m: m.title())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records matching a 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filter(lambda m: m[0]=='d')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subset of the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sample(fraction=0.5, ...)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values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26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computation; returns a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collect, take, 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A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every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first N results (like SQL LIMIT)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take(2)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the results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01168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103120"/>
            <a:ext cx="813816" cy="310896"/>
          </a:xfrm>
          <a:prstGeom prst="roundRect">
            <a:avLst>
              <a:gd name="adj" fmla="val 50000"/>
            </a:avLst>
          </a:prstGeom>
          <a:solidFill>
            <a:srgbClr val="E2601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813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with MLlib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continuous number — house prices in the Boston housing dataset — with pyspark.ml.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Packing columns into one 'features' vector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 models expect ONE column of vectors, not many separate numeric columns like scikit-learn.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4206240"/>
          </a:xfrm>
          <a:prstGeom prst="roundRect">
            <a:avLst>
              <a:gd name="adj" fmla="val 1739"/>
            </a:avLst>
          </a:prstGeom>
          <a:solidFill>
            <a:srgbClr val="10233F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84832"/>
            <a:ext cx="5980176" cy="3877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pyspark.ml.feature import VectorAssembler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vectorAssembler = VectorAssembler(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inputCols=['crim','zn','indus','chas','nox',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'rm','age','dis','rad','tax',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'ptratio','black','lstat'],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outputCol='features')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vhouse_df = vectorAssembler.transform(house_df)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vhouse_df = vhouse_df.select(['features', 'medv'])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920240"/>
            <a:ext cx="4297680" cy="4206240"/>
          </a:xfrm>
          <a:prstGeom prst="roundRect">
            <a:avLst>
              <a:gd name="adj" fmla="val 2174"/>
            </a:avLst>
          </a:prstGeom>
          <a:solidFill>
            <a:srgbClr val="EAF2FA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0" y="2148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→ After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43800" y="26060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crim=0.006, zn=18,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indus=2.3, ...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43800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601C"/>
                </a:solidFill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43800" y="3611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6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= [0.006, 18, 2.3, ...]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4343400"/>
            <a:ext cx="384048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4526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 (median value) is the label — the number the model learns to predict.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Split, fit, and evaluate a Linear Regression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10233F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56232"/>
            <a:ext cx="5980176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train_df, test_df = vhouse_df.randomSplit([0.7, 0.3])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pyspark.ml.regression import LinearRegression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LinearRegression(featuresCol='features',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labelCol='medv', maxIter=10)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lr_model = lr.fit(train_df)          # train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trainingSummary = lr_model.summary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trainingSummary.rootMeanSquaredError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trainingSummary.r2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lr_predictions = lr_model.transform(test_df)  # predict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0" y="1691640"/>
            <a:ext cx="4297680" cy="2011680"/>
          </a:xfrm>
          <a:prstGeom prst="roundRect">
            <a:avLst>
              <a:gd name="adj" fmla="val 4545"/>
            </a:avLst>
          </a:prstGeom>
          <a:solidFill>
            <a:srgbClr val="EAF2FA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fit() vs. transform()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43800" y="22860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train the model on data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transform()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apply the fitted model to produce output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0" y="3886200"/>
            <a:ext cx="4297680" cy="22860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0" y="4069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to know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43800" y="448056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average prediction error, in the same units as medv (lower is better)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share of price variation explained by the model (closer to 1 is better)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3-step pattern, three algorithms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model → .fit(train_df) → .transform(test_df)  — this pattern repeats for every algorithm in pyspark.ml.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AF2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677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LinearRegression(featuresCol='features', labelCol='medv')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straight-line relationship between features and price. Simple, interpretable coefficients.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5623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RegressionEvaluator (rmse / r2)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AF2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1945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2677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DecisionTreeRegressor(featuresCol='features', labelCol='medv')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26280" y="3154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Regressor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370332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into branches by feature thresholds. Captures non-linear patterns; easy to visualize.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5623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RegressionEvaluator (rmse / r2)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9659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AF2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5320" y="21945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2677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GBTRegressor(featuresCol='features', labelCol='medv', maxIter=10)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75320" y="3154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Gradient-Boosted Trees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75320" y="370332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many small trees sequentially, each correcting the last one's errors. Usually most accurate, slower to train.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5623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RegressionEvaluator (rmse / r2)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103120"/>
            <a:ext cx="813816" cy="310896"/>
          </a:xfrm>
          <a:prstGeom prst="roundRect">
            <a:avLst>
              <a:gd name="adj" fmla="val 50000"/>
            </a:avLst>
          </a:prstGeom>
          <a:solidFill>
            <a:srgbClr val="E2601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813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with MLlib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yes/no outcome — will a bank customer subscribe to a term deposit?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categories into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only understand numbers — text columns like 'job' or 'marital' need two conversion steps.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EAF2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E2601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StringIndexer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5877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 → 0, "technician" → 1, "blue-collar" → 2 ...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each text category into an integer code.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EAF2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2194560"/>
            <a:ext cx="502920" cy="502920"/>
          </a:xfrm>
          <a:prstGeom prst="ellipse">
            <a:avLst/>
          </a:prstGeom>
          <a:solidFill>
            <a:srgbClr val="E2601C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2194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OneHotEncoder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78040" y="25877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1 of 3  →  [0, 1, 0]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3063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that code into a sparse vector, so the model doesn't assume a false order (2 &gt; 1 &gt; 0).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11109960" cy="2148840"/>
          </a:xfrm>
          <a:prstGeom prst="roundRect">
            <a:avLst>
              <a:gd name="adj" fmla="val 3404"/>
            </a:avLst>
          </a:prstGeom>
          <a:solidFill>
            <a:srgbClr val="10233F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233672"/>
            <a:ext cx="1059789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col in categoricalColumns: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stringIndexer = StringIndexer(inputCol=col, outputCol=col+'Index')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encoder = OneHotEncoder(inputCols=[stringIndexer.getOutputCol()],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outputCols=[col + "classVec"])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stages += [stringIndexer, encoder]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label_stringIdx = StringIndexer(inputCol='deposit', outputCol='label')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assembler = VectorAssembler(inputCols=assemblerInputs, outputCol='features')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Pipeline, Logistic Regression &amp; the ROC curve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10233F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56232"/>
            <a:ext cx="5522976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pyspark.ml import Pipeline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= Pipeline(stages=stages)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pipelineModel = pipeline.fit(df)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pipelineModel.transform(df)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train, test = df.randomSplit([0.7, 0.3], seed=2018)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pyspark.ml.classification import LogisticRegression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LogisticRegression(featuresCol='features',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labelCol='label', maxIter=10)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lrModel = lr.fit(train)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20840" y="1691640"/>
            <a:ext cx="4892040" cy="2103120"/>
          </a:xfrm>
          <a:prstGeom prst="roundRect">
            <a:avLst>
              <a:gd name="adj" fmla="val 4348"/>
            </a:avLst>
          </a:prstGeom>
          <a:solidFill>
            <a:srgbClr val="EAF2FA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18745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0" y="2286000"/>
            <a:ext cx="4434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every preprocessing step (StringIndexer, OneHotEncoder, VectorAssembler) into one object. .fit() runs all stages in order; .transform() applies them consistently to any dataset — critical so train and test get identical treatment.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20840" y="3931920"/>
            <a:ext cx="4892040" cy="2240280"/>
          </a:xfrm>
          <a:prstGeom prst="roundRect">
            <a:avLst>
              <a:gd name="adj" fmla="val 4082"/>
            </a:avLst>
          </a:prstGeom>
          <a:solidFill>
            <a:srgbClr val="EAF2FA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41148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curve &amp; AUC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9440" y="4507992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True Positive Rate vs. False Positive Rate across thresholds. AUC (Area Under Curve) summarizes it in one number: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525780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perfect classifier   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random guessing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classifiers, one evaluation pattern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trained the same way, then scored with BinaryClassificationEvaluator's areaUnderROC.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AF2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677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LogisticRegression(featuresCol='features', labelCol='label')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probability of the positive class using a linear combination of features. Fast, interpretable baseline.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5577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evaluator.evaluate(predictions, {metricName: 'areaUnderROC'})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AF2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1945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2677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DecisionTreeClassifier(featuresCol='features', labelCol='label', maxDepth=3)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3154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Classifier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370332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customers into groups using feature thresholds (maxDepth=3 keeps it shallow and readable).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5577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evaluator.evaluate(predictions, {metricName: 'areaUnderROC'})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46720" y="19659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AF2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5320" y="21945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2677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RandomForestClassifier(featuresCol='features', labelCol='label')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75320" y="3154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Classifier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75320" y="370332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many trees on random subsets of data/features and averages their votes — more robust, less prone to overfitting.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5577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evaluator.evaluate(predictions, {metricName: 'areaUnderROC'})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 that ties it all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13315C"/>
          </a:solidFill>
          <a:ln w="12700">
            <a:solidFill>
              <a:srgbClr val="2345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7864" y="2423160"/>
            <a:ext cx="457200" cy="457200"/>
          </a:xfrm>
          <a:prstGeom prst="ellipse">
            <a:avLst/>
          </a:prstGeom>
          <a:solidFill>
            <a:srgbClr val="E2601C"/>
          </a:solidFill>
          <a:ln/>
        </p:spPr>
      </p:sp>
      <p:sp>
        <p:nvSpPr>
          <p:cNvPr id="6" name="Text 4"/>
          <p:cNvSpPr/>
          <p:nvPr/>
        </p:nvSpPr>
        <p:spPr>
          <a:xfrm>
            <a:off x="1197864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data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3520440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read.csv() / parallelize()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04288" y="301752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601C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32304" y="219456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13315C"/>
          </a:solidFill>
          <a:ln w="12700">
            <a:solidFill>
              <a:srgbClr val="2345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81528" y="2423160"/>
            <a:ext cx="457200" cy="457200"/>
          </a:xfrm>
          <a:prstGeom prst="ellipse">
            <a:avLst/>
          </a:prstGeom>
          <a:solidFill>
            <a:srgbClr val="E2601C"/>
          </a:solidFill>
          <a:ln/>
        </p:spPr>
      </p:sp>
      <p:sp>
        <p:nvSpPr>
          <p:cNvPr id="12" name="Text 10"/>
          <p:cNvSpPr/>
          <p:nvPr/>
        </p:nvSpPr>
        <p:spPr>
          <a:xfrm>
            <a:off x="3081528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23744" y="30632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features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42032" y="3520440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VectorAssembler, StringIndexer, OneHotEncoder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87952" y="301752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601C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15968" y="219456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13315C"/>
          </a:solidFill>
          <a:ln w="12700">
            <a:solidFill>
              <a:srgbClr val="2345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65192" y="2423160"/>
            <a:ext cx="457200" cy="457200"/>
          </a:xfrm>
          <a:prstGeom prst="ellipse">
            <a:avLst/>
          </a:prstGeom>
          <a:solidFill>
            <a:srgbClr val="E2601C"/>
          </a:solidFill>
          <a:ln/>
        </p:spPr>
      </p:sp>
      <p:sp>
        <p:nvSpPr>
          <p:cNvPr id="18" name="Text 16"/>
          <p:cNvSpPr/>
          <p:nvPr/>
        </p:nvSpPr>
        <p:spPr>
          <a:xfrm>
            <a:off x="4965192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07408" y="30632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25696" y="3520440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randomSplit([0.7, 0.3])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71616" y="301752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601C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9632" y="219456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13315C"/>
          </a:solidFill>
          <a:ln w="12700">
            <a:solidFill>
              <a:srgbClr val="2345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48856" y="2423160"/>
            <a:ext cx="457200" cy="457200"/>
          </a:xfrm>
          <a:prstGeom prst="ellipse">
            <a:avLst/>
          </a:prstGeom>
          <a:solidFill>
            <a:srgbClr val="E2601C"/>
          </a:solidFill>
          <a:ln/>
        </p:spPr>
      </p:sp>
      <p:sp>
        <p:nvSpPr>
          <p:cNvPr id="24" name="Text 22"/>
          <p:cNvSpPr/>
          <p:nvPr/>
        </p:nvSpPr>
        <p:spPr>
          <a:xfrm>
            <a:off x="6848856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91072" y="30632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fit()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3520440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55280" y="301752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601C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83296" y="219456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13315C"/>
          </a:solidFill>
          <a:ln w="12700">
            <a:solidFill>
              <a:srgbClr val="2345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0" y="2423160"/>
            <a:ext cx="457200" cy="457200"/>
          </a:xfrm>
          <a:prstGeom prst="ellipse">
            <a:avLst/>
          </a:prstGeom>
          <a:solidFill>
            <a:srgbClr val="E2601C"/>
          </a:solidFill>
          <a:ln/>
        </p:spPr>
      </p:sp>
      <p:sp>
        <p:nvSpPr>
          <p:cNvPr id="30" name="Text 28"/>
          <p:cNvSpPr/>
          <p:nvPr/>
        </p:nvSpPr>
        <p:spPr>
          <a:xfrm>
            <a:off x="873252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74736" y="30632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transform()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93024" y="3520440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predictions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838944" y="301752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601C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966960" y="219456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13315C"/>
          </a:solidFill>
          <a:ln w="12700">
            <a:solidFill>
              <a:srgbClr val="23457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16184" y="2423160"/>
            <a:ext cx="457200" cy="457200"/>
          </a:xfrm>
          <a:prstGeom prst="ellipse">
            <a:avLst/>
          </a:prstGeom>
          <a:solidFill>
            <a:srgbClr val="E2601C"/>
          </a:solidFill>
          <a:ln/>
        </p:spPr>
      </p:sp>
      <p:sp>
        <p:nvSpPr>
          <p:cNvPr id="36" name="Text 34"/>
          <p:cNvSpPr/>
          <p:nvPr/>
        </p:nvSpPr>
        <p:spPr>
          <a:xfrm>
            <a:off x="10616184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058400" y="30632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76688" y="3520440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Evaluator: rmse / r2 / areaUnderROC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4892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same six-step shape — prepare features, split, fit, transform, evaluate — is how every algorithm in pyspark.ml works, whether predicting a price or a yes/no outcome.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66928" y="5943600"/>
            <a:ext cx="1280160" cy="0"/>
          </a:xfrm>
          <a:prstGeom prst="line">
            <a:avLst/>
          </a:prstGeom>
          <a:noFill/>
          <a:ln w="38100">
            <a:solidFill>
              <a:srgbClr val="E260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080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Re-run each notebook cell-by-cell with your class to see the lazy evaluation and fit/transform pattern in action.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2026-08-18T05:45:41Z</dcterms:created>
  <dcterms:modified xsi:type="dcterms:W3CDTF">2026-08-18T05:45:41Z</dcterms:modified>
</cp:coreProperties>
</file>